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4045"/>
    <a:srgbClr val="FBF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923BA-1D59-48A2-7FC9-326B8CA15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209BC6-E5C9-EA90-3A97-D47063EBA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0E1426-D7E4-D640-C8D7-1A81CF03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F5E2C6-0A7B-05D2-FADA-378692D2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ED3F70-E2D8-B506-0490-30E5FD01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95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951A3-0BB1-3938-CCAC-C7D9536E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49A279-A7E3-CA54-4D72-F6CB08A9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E29AE-3875-4DED-319D-7813C670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B797D2-B147-0DF9-C2D3-B37E1C49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66BEBB-DCC0-BBAB-82FE-E59E153C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23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C52B7-73AF-2B2F-A956-38111685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7C74FF-D86E-3A77-865D-9F86F6569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6A64FB-8E35-C8D2-6CBF-6E59263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F1453B-A500-E9CC-D9C0-E037256A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A75310-6216-0E99-F555-8D9E000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02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345E76-9362-FF94-0F82-AE218F86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EC4F32-FDA2-37FC-5780-C3939C0A1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8B8DAD-85CA-55A0-0DBB-951518904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42A369-1642-540A-A05B-9FA85506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FF3BBA-8B20-9D6F-9883-E20E70E2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DB8CFD-B820-6414-3472-9CAEC1AF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68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564D5B-5238-78ED-4CB2-9A475C80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A2720D-8ABC-B02B-B19C-B08ED3704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48EBD1-99F3-1D80-B266-B9C7B93A7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85D7328-EF9C-3985-A5E2-BFF9E88D7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1D28242-E36E-F330-B63A-68C575362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D89098B-5917-B05B-7684-4BC88417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3CD951F-F9B5-CB5B-197A-32C9C442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FD6E5B-E073-D087-8B90-490B1A5D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96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5BE6A5-89AE-1671-0ADA-E32982A4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DAB6A8-8063-9D3C-B8F9-C4753C2E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C7DDA3-35DC-FBDD-AE81-A30AD800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7DF4BA-A594-D143-0927-594A5E69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05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FDBE421-67B7-CF73-DABF-A6535523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A7BE94-96E6-BB7D-CB2A-4C0FB688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130A56-9094-4A79-F82B-EA48CA4B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99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3737B1-D0E5-1366-F1E7-C198BE5B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8890E5-F46D-1E35-94EF-9BB4F21B5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D5B977-6319-6F93-FB01-3A1D44A5A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B11174-0061-43A6-68A4-7BFA3255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66ABC2-32C7-0697-A808-0A7773C4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7B80EA-5D3F-9A93-B99A-2F51DA17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81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683A8-5014-B711-00D7-70C884E0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A1B9F25-25D0-8325-188C-3A6DBFE14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3BD553D-AABB-68CE-B96A-AB4704B5E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5786F3-6643-81E0-A3D9-6742287A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0ABC2D-5E77-D702-9335-625548F4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F51BE1-4698-DDE1-C86E-24DA8360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14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F4E5A-D436-6C05-AC16-14039F37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1B6BD0-C032-5ACE-964B-D22ACCD31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473600-1F77-57A2-D158-44AC3749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5A7C8A-E27A-47F2-0FAE-17E5B3D7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A6A754-9831-ABD2-6020-9A362C9E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0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906556E-5304-236D-904F-23B295B42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30BE9B-34C3-CE8E-D47A-A71733207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545D43-03E5-9E46-4E7A-F5D72728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8CC3E-3823-E6F5-B0A7-A27FB592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418A93-A054-351B-F477-E630F921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49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9481A49-0293-B2C0-F553-19FA7488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E283D5-903A-E369-A1B1-817884C17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497CF-1873-9EEF-5B8C-EE9CBA8D9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205BA-4CEB-4E52-853D-D86E7C7967B9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14B8A-AEE0-4078-061A-642F867D5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03FDB2-E466-CFD3-121A-88272A5B6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9C993-1C15-4A00-884A-654C60252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12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09DC2AD2-7756-8F6C-DDEA-4736CF74AC64}"/>
              </a:ext>
            </a:extLst>
          </p:cNvPr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5E545DF8-C44D-112D-7B68-0C46A231EF71}"/>
              </a:ext>
            </a:extLst>
          </p:cNvPr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191F6F2D-BE5F-E576-1D32-414B1251D929}"/>
              </a:ext>
            </a:extLst>
          </p:cNvPr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09A654A-13A4-C1B7-2CE0-B5174B5DF0E2}"/>
              </a:ext>
            </a:extLst>
          </p:cNvPr>
          <p:cNvSpPr txBox="1"/>
          <p:nvPr/>
        </p:nvSpPr>
        <p:spPr>
          <a:xfrm>
            <a:off x="713232" y="822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26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EA8F6B5F-53D1-9ADE-215F-E496DE9C6CFD}"/>
              </a:ext>
            </a:extLst>
          </p:cNvPr>
          <p:cNvSpPr/>
          <p:nvPr/>
        </p:nvSpPr>
        <p:spPr>
          <a:xfrm>
            <a:off x="548640" y="153619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20713A3-485E-1B72-B993-F408A7C8C934}"/>
              </a:ext>
            </a:extLst>
          </p:cNvPr>
          <p:cNvSpPr txBox="1"/>
          <p:nvPr/>
        </p:nvSpPr>
        <p:spPr>
          <a:xfrm>
            <a:off x="548640" y="170078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Obstacle Avoidance for a Quadruped Robot｜Team Leader: </a:t>
            </a:r>
            <a:r>
              <a:rPr lang="en-US" sz="15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Anny</a:t>
            </a:r>
            <a:endParaRPr lang="en-US" sz="15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160AF9B6-D1CF-0EDF-EAC7-0C373EB366B3}"/>
              </a:ext>
            </a:extLst>
          </p:cNvPr>
          <p:cNvSpPr txBox="1"/>
          <p:nvPr/>
        </p:nvSpPr>
        <p:spPr>
          <a:xfrm>
            <a:off x="548640" y="23957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9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4886F35-3AB7-3CAD-1394-E80164711861}"/>
              </a:ext>
            </a:extLst>
          </p:cNvPr>
          <p:cNvSpPr txBox="1"/>
          <p:nvPr/>
        </p:nvSpPr>
        <p:spPr>
          <a:xfrm>
            <a:off x="841248" y="2761488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obstacles on its own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goal position autonomously</a:t>
            </a:r>
            <a:endParaRPr lang="en-US" sz="135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4AF0D46E-7318-4A43-80EA-EA0F5F51F2A3}"/>
              </a:ext>
            </a:extLst>
          </p:cNvPr>
          <p:cNvSpPr txBox="1"/>
          <p:nvPr/>
        </p:nvSpPr>
        <p:spPr>
          <a:xfrm>
            <a:off x="548640" y="38130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Result</a:t>
            </a:r>
            <a:endParaRPr lang="en-US" sz="19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DCC58F23-0EFB-8D57-65FB-8D477937BEA6}"/>
              </a:ext>
            </a:extLst>
          </p:cNvPr>
          <p:cNvSpPr txBox="1"/>
          <p:nvPr/>
        </p:nvSpPr>
        <p:spPr>
          <a:xfrm>
            <a:off x="841248" y="4197096"/>
            <a:ext cx="4828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dog uses the added LiDAR to detect obstacles, then walks to a goal position by itself and goes around anything in its way.</a:t>
            </a:r>
            <a:endParaRPr lang="en-US" sz="1300" dirty="0"/>
          </a:p>
        </p:txBody>
      </p:sp>
      <p:pic>
        <p:nvPicPr>
          <p:cNvPr id="39" name="Image 0" descr="/home/claude/extract/anny/images/slide1_img1.png">
            <a:extLst>
              <a:ext uri="{FF2B5EF4-FFF2-40B4-BE49-F238E27FC236}">
                <a16:creationId xmlns:a16="http://schemas.microsoft.com/office/drawing/2014/main" id="{E4D98C2F-EA9B-1BB5-2727-6579E1509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26480" y="2395728"/>
            <a:ext cx="5486400" cy="3246120"/>
          </a:xfrm>
          <a:prstGeom prst="rect">
            <a:avLst/>
          </a:prstGeom>
        </p:spPr>
      </p:pic>
      <p:sp>
        <p:nvSpPr>
          <p:cNvPr id="41" name="Text 10">
            <a:extLst>
              <a:ext uri="{FF2B5EF4-FFF2-40B4-BE49-F238E27FC236}">
                <a16:creationId xmlns:a16="http://schemas.microsoft.com/office/drawing/2014/main" id="{39947EAE-8634-2BAD-FBBB-F933D5B5E87D}"/>
              </a:ext>
            </a:extLst>
          </p:cNvPr>
          <p:cNvSpPr txBox="1"/>
          <p:nvPr/>
        </p:nvSpPr>
        <p:spPr>
          <a:xfrm>
            <a:off x="6126480" y="5696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obstacle field — target path around obstacles to the goal</a:t>
            </a:r>
            <a:endParaRPr lang="en-US" sz="10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4B4F61C3-6E5A-C46C-C3D3-F61463896EE9}"/>
              </a:ext>
            </a:extLst>
          </p:cNvPr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國立臺灣科技大學（NTUST） · 自主移動機器人實驗室</a:t>
            </a:r>
            <a:endParaRPr lang="en-US" sz="9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CFCD3D4D-1DB1-DDF2-AD78-7954D89476C7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5892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9F1660E7-91B4-8803-BE1D-36744B8105AD}"/>
              </a:ext>
            </a:extLst>
          </p:cNvPr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BB77A1F-21A5-DD01-B5D2-C5D165EA7FB6}"/>
              </a:ext>
            </a:extLst>
          </p:cNvPr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EAD3E9B3-C7DA-5F19-F91E-0D6F39D9D1E7}"/>
              </a:ext>
            </a:extLst>
          </p:cNvPr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20FCF7D-AC13-E694-78D9-6FD5C510DD0B}"/>
              </a:ext>
            </a:extLst>
          </p:cNvPr>
          <p:cNvSpPr txBox="1"/>
          <p:nvPr/>
        </p:nvSpPr>
        <p:spPr>
          <a:xfrm>
            <a:off x="713232" y="822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26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729D297-D6D5-B3BF-542D-44B30009DEAE}"/>
              </a:ext>
            </a:extLst>
          </p:cNvPr>
          <p:cNvSpPr/>
          <p:nvPr/>
        </p:nvSpPr>
        <p:spPr>
          <a:xfrm>
            <a:off x="548640" y="153619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2DCEA7D-C418-EE53-C941-14D190AB2BAB}"/>
              </a:ext>
            </a:extLst>
          </p:cNvPr>
          <p:cNvSpPr txBox="1"/>
          <p:nvPr/>
        </p:nvSpPr>
        <p:spPr>
          <a:xfrm>
            <a:off x="548640" y="170078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System｜Team Leader: </a:t>
            </a:r>
            <a:r>
              <a:rPr lang="en-US" sz="15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Anny (許雅倪)</a:t>
            </a:r>
            <a:endParaRPr lang="en-US" sz="1500" dirty="0"/>
          </a:p>
        </p:txBody>
      </p:sp>
      <p:pic>
        <p:nvPicPr>
          <p:cNvPr id="30" name="Image 0" descr="/home/claude/extract/anny/images/slide2_img2.jpg">
            <a:extLst>
              <a:ext uri="{FF2B5EF4-FFF2-40B4-BE49-F238E27FC236}">
                <a16:creationId xmlns:a16="http://schemas.microsoft.com/office/drawing/2014/main" id="{AFB28F8E-4493-8878-6485-2FDB192F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395728"/>
            <a:ext cx="4114800" cy="3063240"/>
          </a:xfrm>
          <a:prstGeom prst="rect">
            <a:avLst/>
          </a:prstGeom>
        </p:spPr>
      </p:pic>
      <p:sp>
        <p:nvSpPr>
          <p:cNvPr id="34" name="Text 6">
            <a:extLst>
              <a:ext uri="{FF2B5EF4-FFF2-40B4-BE49-F238E27FC236}">
                <a16:creationId xmlns:a16="http://schemas.microsoft.com/office/drawing/2014/main" id="{3C995E66-63AD-0D51-589B-846C393540B2}"/>
              </a:ext>
            </a:extLst>
          </p:cNvPr>
          <p:cNvSpPr txBox="1"/>
          <p:nvPr/>
        </p:nvSpPr>
        <p:spPr>
          <a:xfrm>
            <a:off x="548640" y="5513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DOGZILLA S1 with control hardware</a:t>
            </a:r>
            <a:endParaRPr lang="en-US" sz="10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9B5F19EC-71C3-D944-1665-76B5C110A823}"/>
              </a:ext>
            </a:extLst>
          </p:cNvPr>
          <p:cNvSpPr txBox="1"/>
          <p:nvPr/>
        </p:nvSpPr>
        <p:spPr>
          <a:xfrm>
            <a:off x="5029200" y="2395728"/>
            <a:ext cx="6613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9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DFF84F56-99C7-9A83-1748-0AF670CDDE2D}"/>
              </a:ext>
            </a:extLst>
          </p:cNvPr>
          <p:cNvSpPr txBox="1"/>
          <p:nvPr/>
        </p:nvSpPr>
        <p:spPr>
          <a:xfrm>
            <a:off x="5321808" y="2761488"/>
            <a:ext cx="6321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DOGZILLA S1 — 12-DOF robot dog with Raspberry Pi 4B and camera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to be added for obstacle sensing</a:t>
            </a:r>
            <a:endParaRPr lang="en-US" sz="125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FE3F4D9E-DD8D-1020-2C69-0F1EE0F83ACD}"/>
              </a:ext>
            </a:extLst>
          </p:cNvPr>
          <p:cNvSpPr txBox="1"/>
          <p:nvPr/>
        </p:nvSpPr>
        <p:spPr>
          <a:xfrm>
            <a:off x="5029200" y="3858768"/>
            <a:ext cx="6613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Control (ROS 2)</a:t>
            </a:r>
            <a:endParaRPr lang="en-US" sz="19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E09CD2C0-772D-0670-D71F-620CC256A257}"/>
              </a:ext>
            </a:extLst>
          </p:cNvPr>
          <p:cNvSpPr txBox="1"/>
          <p:nvPr/>
        </p:nvSpPr>
        <p:spPr>
          <a:xfrm>
            <a:off x="5321808" y="4224528"/>
            <a:ext cx="63212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control</a:t>
            </a:r>
            <a:endParaRPr lang="en-US" sz="125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97CCA514-2530-F7FB-CAC5-9FE74D63E86A}"/>
              </a:ext>
            </a:extLst>
          </p:cNvPr>
          <p:cNvSpPr txBox="1"/>
          <p:nvPr/>
        </p:nvSpPr>
        <p:spPr>
          <a:xfrm>
            <a:off x="5029200" y="5733288"/>
            <a:ext cx="6613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LiDAR scan data → Raspberry Pi plans a path → commands sent to the robot dog</a:t>
            </a:r>
            <a:endParaRPr lang="en-US" sz="1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801D319B-FB47-9997-6495-E85704CD9175}"/>
              </a:ext>
            </a:extLst>
          </p:cNvPr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國立臺灣科技大學（NTUST） · 自主移動機器人實驗室</a:t>
            </a:r>
            <a:endParaRPr lang="en-US" sz="9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385D3981-4F6E-6B3A-52F1-B2A9FC873C54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8070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3A69B695-0A50-7C8C-1216-32C7D4EF4390}"/>
              </a:ext>
            </a:extLst>
          </p:cNvPr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D19C093D-4635-8385-816C-C6EF81A1848F}"/>
              </a:ext>
            </a:extLst>
          </p:cNvPr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1B32AD5-86ED-776A-CA58-86A3A96622FB}"/>
              </a:ext>
            </a:extLst>
          </p:cNvPr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A7A1CFC-39F1-DB70-4285-ECEA1DBAB099}"/>
              </a:ext>
            </a:extLst>
          </p:cNvPr>
          <p:cNvSpPr txBox="1"/>
          <p:nvPr/>
        </p:nvSpPr>
        <p:spPr>
          <a:xfrm>
            <a:off x="713232" y="822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26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D96E5FF-31F6-22EB-86C7-23F36A64B87B}"/>
              </a:ext>
            </a:extLst>
          </p:cNvPr>
          <p:cNvSpPr/>
          <p:nvPr/>
        </p:nvSpPr>
        <p:spPr>
          <a:xfrm>
            <a:off x="548640" y="153619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E6527AE-D8C5-DD6B-C60A-12B4991A0C45}"/>
              </a:ext>
            </a:extLst>
          </p:cNvPr>
          <p:cNvSpPr txBox="1"/>
          <p:nvPr/>
        </p:nvSpPr>
        <p:spPr>
          <a:xfrm>
            <a:off x="548640" y="170078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— </a:t>
            </a:r>
            <a:r>
              <a:rPr lang="zh-TW" altLang="zh-TW" sz="1500" b="1" dirty="0">
                <a:solidFill>
                  <a:srgbClr val="403F3D"/>
                </a:solidFill>
                <a:latin typeface="Calibri" pitchFamily="34" charset="0"/>
                <a:cs typeface="Calibri" pitchFamily="34" charset="-120"/>
              </a:rPr>
              <a:t>Hardware Overview</a:t>
            </a:r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｜Team Leader: </a:t>
            </a:r>
            <a:r>
              <a:rPr lang="en-US" sz="15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Anny (許雅倪)</a:t>
            </a:r>
            <a:endParaRPr lang="en-US" sz="15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45955E0-7995-DF1C-FEF2-27C5D6FD2911}"/>
              </a:ext>
            </a:extLst>
          </p:cNvPr>
          <p:cNvSpPr txBox="1"/>
          <p:nvPr/>
        </p:nvSpPr>
        <p:spPr>
          <a:xfrm>
            <a:off x="548640" y="239572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r>
              <a:rPr lang="en-US" altLang="zh-TW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</a:t>
            </a:r>
            <a:r>
              <a:rPr lang="zh-TW" altLang="zh-TW" sz="155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Hardware Overview</a:t>
            </a:r>
            <a:endParaRPr lang="en-US" sz="155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66F6F7C-9658-5C86-F5A2-E5C503824F74}"/>
              </a:ext>
            </a:extLst>
          </p:cNvPr>
          <p:cNvSpPr/>
          <p:nvPr/>
        </p:nvSpPr>
        <p:spPr>
          <a:xfrm>
            <a:off x="548639" y="2852928"/>
            <a:ext cx="10564203" cy="2114964"/>
          </a:xfrm>
          <a:prstGeom prst="rect">
            <a:avLst/>
          </a:prstGeom>
          <a:solidFill>
            <a:srgbClr val="F9F6EF"/>
          </a:solidFill>
          <a:ln w="9525">
            <a:solidFill>
              <a:srgbClr val="7A7977"/>
            </a:solidFill>
            <a:prstDash val="solid"/>
          </a:ln>
        </p:spPr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9AE58F4B-6C40-3398-A5FD-A24FB7467B2C}"/>
              </a:ext>
            </a:extLst>
          </p:cNvPr>
          <p:cNvSpPr txBox="1"/>
          <p:nvPr/>
        </p:nvSpPr>
        <p:spPr>
          <a:xfrm>
            <a:off x="640080" y="2898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 &amp; Obstacle Avoidance</a:t>
            </a:r>
            <a:endParaRPr lang="en-US" sz="1100" dirty="0"/>
          </a:p>
        </p:txBody>
      </p:sp>
      <p:pic>
        <p:nvPicPr>
          <p:cNvPr id="42" name="Image 0" descr="/home/claude/icons/pathplan_icon.png">
            <a:extLst>
              <a:ext uri="{FF2B5EF4-FFF2-40B4-BE49-F238E27FC236}">
                <a16:creationId xmlns:a16="http://schemas.microsoft.com/office/drawing/2014/main" id="{38C6A7F7-F5A6-7517-AB85-5491498F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8044" y="3127310"/>
            <a:ext cx="3777341" cy="1762759"/>
          </a:xfrm>
          <a:prstGeom prst="rect">
            <a:avLst/>
          </a:prstGeom>
        </p:spPr>
      </p:pic>
      <p:sp>
        <p:nvSpPr>
          <p:cNvPr id="46" name="Text 9">
            <a:extLst>
              <a:ext uri="{FF2B5EF4-FFF2-40B4-BE49-F238E27FC236}">
                <a16:creationId xmlns:a16="http://schemas.microsoft.com/office/drawing/2014/main" id="{328EE245-5384-E48A-01F8-78F1F8AE988B}"/>
              </a:ext>
            </a:extLst>
          </p:cNvPr>
          <p:cNvSpPr txBox="1"/>
          <p:nvPr/>
        </p:nvSpPr>
        <p:spPr>
          <a:xfrm>
            <a:off x="5379871" y="3495294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4B  ·  ROS 2</a:t>
            </a:r>
            <a:endParaRPr lang="en-US" sz="14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B9EEC93B-73FE-4400-5533-38106F972BE3}"/>
              </a:ext>
            </a:extLst>
          </p:cNvPr>
          <p:cNvSpPr txBox="1"/>
          <p:nvPr/>
        </p:nvSpPr>
        <p:spPr>
          <a:xfrm>
            <a:off x="5379872" y="4062222"/>
            <a:ext cx="5882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 →  Path Planning  →  Obstacle Avoidance  →  Motion Control</a:t>
            </a:r>
            <a:endParaRPr lang="en-US" sz="140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4341962F-630A-509C-B5F2-ED39BE1838CD}"/>
              </a:ext>
            </a:extLst>
          </p:cNvPr>
          <p:cNvSpPr/>
          <p:nvPr/>
        </p:nvSpPr>
        <p:spPr>
          <a:xfrm>
            <a:off x="548640" y="5536692"/>
            <a:ext cx="3454298" cy="516636"/>
          </a:xfrm>
          <a:prstGeom prst="rect">
            <a:avLst/>
          </a:prstGeom>
          <a:solidFill>
            <a:srgbClr val="F9F6EF"/>
          </a:solidFill>
          <a:ln w="9525">
            <a:solidFill>
              <a:srgbClr val="7A7977"/>
            </a:solidFill>
            <a:prstDash val="solid"/>
          </a:ln>
        </p:spPr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280001BC-B82F-3E08-6ACF-1551558D45E7}"/>
              </a:ext>
            </a:extLst>
          </p:cNvPr>
          <p:cNvSpPr txBox="1"/>
          <p:nvPr/>
        </p:nvSpPr>
        <p:spPr>
          <a:xfrm>
            <a:off x="621792" y="5605272"/>
            <a:ext cx="33079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1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sensing (to be added)</a:t>
            </a:r>
            <a:endParaRPr lang="en-US" sz="1150" dirty="0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59611410-4596-3EC6-41D9-53E7D83D553F}"/>
              </a:ext>
            </a:extLst>
          </p:cNvPr>
          <p:cNvSpPr/>
          <p:nvPr/>
        </p:nvSpPr>
        <p:spPr>
          <a:xfrm>
            <a:off x="4368698" y="5536692"/>
            <a:ext cx="3454298" cy="516636"/>
          </a:xfrm>
          <a:prstGeom prst="rect">
            <a:avLst/>
          </a:prstGeom>
          <a:solidFill>
            <a:srgbClr val="F9F6EF"/>
          </a:solidFill>
          <a:ln w="9525">
            <a:solidFill>
              <a:srgbClr val="7A7977"/>
            </a:solidFill>
            <a:prstDash val="solid"/>
          </a:ln>
        </p:spPr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02E65A41-31DC-5087-4704-F763208992DB}"/>
              </a:ext>
            </a:extLst>
          </p:cNvPr>
          <p:cNvSpPr txBox="1"/>
          <p:nvPr/>
        </p:nvSpPr>
        <p:spPr>
          <a:xfrm>
            <a:off x="4441850" y="5605272"/>
            <a:ext cx="33079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robot</a:t>
            </a:r>
            <a:endParaRPr lang="en-US" sz="1150" dirty="0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530E3806-6AFC-A1F0-99D6-82695AD5B2A6}"/>
              </a:ext>
            </a:extLst>
          </p:cNvPr>
          <p:cNvSpPr/>
          <p:nvPr/>
        </p:nvSpPr>
        <p:spPr>
          <a:xfrm>
            <a:off x="8188757" y="5536692"/>
            <a:ext cx="3454298" cy="516636"/>
          </a:xfrm>
          <a:prstGeom prst="rect">
            <a:avLst/>
          </a:prstGeom>
          <a:solidFill>
            <a:srgbClr val="F9F6EF"/>
          </a:solidFill>
          <a:ln w="9525">
            <a:solidFill>
              <a:srgbClr val="7A7977"/>
            </a:solidFill>
            <a:prstDash val="solid"/>
          </a:ln>
        </p:spPr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24CA33C4-C3C1-BACF-78FF-4A317C0F52DD}"/>
              </a:ext>
            </a:extLst>
          </p:cNvPr>
          <p:cNvSpPr txBox="1"/>
          <p:nvPr/>
        </p:nvSpPr>
        <p:spPr>
          <a:xfrm>
            <a:off x="8261909" y="5605272"/>
            <a:ext cx="33079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DOGZILLA S1 Body</a:t>
            </a:r>
            <a:endParaRPr lang="en-US" sz="11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servos + IMU</a:t>
            </a:r>
            <a:endParaRPr lang="en-US" sz="1150" dirty="0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0696F396-791C-7055-C942-C9112B0D45D7}"/>
              </a:ext>
            </a:extLst>
          </p:cNvPr>
          <p:cNvSpPr/>
          <p:nvPr/>
        </p:nvSpPr>
        <p:spPr>
          <a:xfrm>
            <a:off x="2138629" y="5204710"/>
            <a:ext cx="274320" cy="347594"/>
          </a:xfrm>
          <a:prstGeom prst="upArrow">
            <a:avLst/>
          </a:prstGeom>
          <a:solidFill>
            <a:srgbClr val="00549D"/>
          </a:solidFill>
          <a:ln/>
        </p:spPr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CEAA831D-2F8D-F2F4-84BE-DAA59EA9E9E5}"/>
              </a:ext>
            </a:extLst>
          </p:cNvPr>
          <p:cNvSpPr txBox="1"/>
          <p:nvPr/>
        </p:nvSpPr>
        <p:spPr>
          <a:xfrm>
            <a:off x="548639" y="49678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data</a:t>
            </a:r>
            <a:endParaRPr lang="en-US" sz="1200" dirty="0"/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78CF2B58-4385-CB8E-D5A0-1EBD4442BC5D}"/>
              </a:ext>
            </a:extLst>
          </p:cNvPr>
          <p:cNvSpPr/>
          <p:nvPr/>
        </p:nvSpPr>
        <p:spPr>
          <a:xfrm>
            <a:off x="5958687" y="5193792"/>
            <a:ext cx="274320" cy="347594"/>
          </a:xfrm>
          <a:prstGeom prst="upArrow">
            <a:avLst/>
          </a:prstGeom>
          <a:solidFill>
            <a:srgbClr val="00549D"/>
          </a:solidFill>
          <a:ln/>
        </p:spPr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54AEFC6F-7E29-8C5B-26BF-37C1D4B81B89}"/>
              </a:ext>
            </a:extLst>
          </p:cNvPr>
          <p:cNvSpPr txBox="1"/>
          <p:nvPr/>
        </p:nvSpPr>
        <p:spPr>
          <a:xfrm>
            <a:off x="4368698" y="49678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B228F35B-16FF-C8A8-CB32-8EF3E9C8B075}"/>
              </a:ext>
            </a:extLst>
          </p:cNvPr>
          <p:cNvSpPr/>
          <p:nvPr/>
        </p:nvSpPr>
        <p:spPr>
          <a:xfrm>
            <a:off x="9778746" y="5242212"/>
            <a:ext cx="274320" cy="302554"/>
          </a:xfrm>
          <a:prstGeom prst="downArrow">
            <a:avLst/>
          </a:prstGeom>
          <a:solidFill>
            <a:srgbClr val="403F3D"/>
          </a:solidFill>
          <a:ln/>
        </p:spPr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77366FEA-C4AF-9579-2A7B-88CF360BC64C}"/>
              </a:ext>
            </a:extLst>
          </p:cNvPr>
          <p:cNvSpPr txBox="1"/>
          <p:nvPr/>
        </p:nvSpPr>
        <p:spPr>
          <a:xfrm>
            <a:off x="8188757" y="49678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D3C03D09-F5F3-FE45-EFF1-DFFA2ED16A1C}"/>
              </a:ext>
            </a:extLst>
          </p:cNvPr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LiDAR scans the surroundings; the Raspberry Pi plans a path and sends motion commands back to the robot dog.</a:t>
            </a:r>
            <a:endParaRPr lang="en-US" sz="1100" dirty="0"/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57A409A1-5138-0ECA-3590-948A6490DC94}"/>
              </a:ext>
            </a:extLst>
          </p:cNvPr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國立臺灣科技大學（NTUST） · 自主移動機器人實驗室</a:t>
            </a:r>
            <a:endParaRPr lang="en-US" sz="9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A2FCC334-C669-5432-7E36-855F3E52959C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561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D8B63C6E-CBE4-4D8F-AA3A-4BA69CB0BE62}"/>
              </a:ext>
            </a:extLst>
          </p:cNvPr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51DB3C04-58B3-D400-0F86-E4E0EBED565C}"/>
              </a:ext>
            </a:extLst>
          </p:cNvPr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AC5E0619-423C-1143-020B-A20C8A9CE11B}"/>
              </a:ext>
            </a:extLst>
          </p:cNvPr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/>
        </p:spPr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A152B56D-C3BD-DCB0-62EF-EB74401404D6}"/>
              </a:ext>
            </a:extLst>
          </p:cNvPr>
          <p:cNvSpPr txBox="1"/>
          <p:nvPr/>
        </p:nvSpPr>
        <p:spPr>
          <a:xfrm>
            <a:off x="713232" y="822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4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2600" dirty="0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DB9009C3-B316-1782-E4D2-9D241073DE80}"/>
              </a:ext>
            </a:extLst>
          </p:cNvPr>
          <p:cNvSpPr/>
          <p:nvPr/>
        </p:nvSpPr>
        <p:spPr>
          <a:xfrm>
            <a:off x="548640" y="1536192"/>
            <a:ext cx="11094415" cy="0"/>
          </a:xfrm>
          <a:prstGeom prst="line">
            <a:avLst/>
          </a:prstGeom>
          <a:noFill/>
          <a:ln w="9525">
            <a:solidFill>
              <a:srgbClr val="7A7977"/>
            </a:solidFill>
            <a:prstDash val="solid"/>
          </a:ln>
        </p:spPr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AF3B49B2-ACDF-9D2F-E9F6-E666AAA0A3ED}"/>
              </a:ext>
            </a:extLst>
          </p:cNvPr>
          <p:cNvSpPr txBox="1"/>
          <p:nvPr/>
        </p:nvSpPr>
        <p:spPr>
          <a:xfrm>
            <a:off x="548640" y="170078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zh-TW" altLang="zh-TW" sz="1500" b="1" dirty="0">
                <a:solidFill>
                  <a:srgbClr val="403F3D"/>
                </a:solidFill>
                <a:latin typeface="Calibri" pitchFamily="34" charset="0"/>
                <a:cs typeface="Calibri" pitchFamily="34" charset="-120"/>
              </a:rPr>
              <a:t>Software Pipeline</a:t>
            </a:r>
            <a:r>
              <a:rPr lang="en-US" sz="1500" b="1" dirty="0">
                <a:solidFill>
                  <a:srgbClr val="403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｜Team Leader: </a:t>
            </a:r>
            <a:r>
              <a:rPr lang="en-US" sz="1500" b="1" dirty="0">
                <a:solidFill>
                  <a:srgbClr val="A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Anny (許雅倪)</a:t>
            </a:r>
            <a:endParaRPr lang="en-US" sz="1500" dirty="0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6C167E59-B8C4-EDA0-1E13-0D1FD266B332}"/>
              </a:ext>
            </a:extLst>
          </p:cNvPr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國立臺灣科技大學（NTUST） · 自主移動機器人實驗室</a:t>
            </a:r>
            <a:endParaRPr lang="en-US" sz="900" dirty="0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70528D88-B489-6144-C972-612FAA02964A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D5A41DD5-9CF1-418D-DB4A-C4F622F48FAC}"/>
              </a:ext>
            </a:extLst>
          </p:cNvPr>
          <p:cNvSpPr txBox="1"/>
          <p:nvPr/>
        </p:nvSpPr>
        <p:spPr>
          <a:xfrm>
            <a:off x="1724186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7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721EFBAC-AC2F-1D68-43EF-9A3200C293AD}"/>
              </a:ext>
            </a:extLst>
          </p:cNvPr>
          <p:cNvSpPr/>
          <p:nvPr/>
        </p:nvSpPr>
        <p:spPr>
          <a:xfrm>
            <a:off x="3019586" y="3941064"/>
            <a:ext cx="365760" cy="0"/>
          </a:xfrm>
          <a:prstGeom prst="line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546AD1CC-C069-3C0C-6802-6783FEB3901F}"/>
              </a:ext>
            </a:extLst>
          </p:cNvPr>
          <p:cNvSpPr txBox="1"/>
          <p:nvPr/>
        </p:nvSpPr>
        <p:spPr>
          <a:xfrm>
            <a:off x="2882426" y="3721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0" dirty="0">
                <a:solidFill>
                  <a:srgbClr val="006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830" dirty="0"/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86A47DE6-866A-44E7-CB83-8FD270807864}"/>
              </a:ext>
            </a:extLst>
          </p:cNvPr>
          <p:cNvSpPr/>
          <p:nvPr/>
        </p:nvSpPr>
        <p:spPr>
          <a:xfrm flipH="1">
            <a:off x="3019586" y="4636008"/>
            <a:ext cx="358140" cy="0"/>
          </a:xfrm>
          <a:prstGeom prst="line">
            <a:avLst/>
          </a:prstGeom>
          <a:noFill/>
          <a:ln w="13970">
            <a:solidFill>
              <a:srgbClr val="0066A1"/>
            </a:solidFill>
            <a:prstDash val="dash"/>
            <a:tailEnd type="triangle"/>
          </a:ln>
        </p:spPr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E4D142D0-DCD9-3D38-1CF5-B1CA7B4D0447}"/>
              </a:ext>
            </a:extLst>
          </p:cNvPr>
          <p:cNvSpPr/>
          <p:nvPr/>
        </p:nvSpPr>
        <p:spPr>
          <a:xfrm>
            <a:off x="3431066" y="415137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8A8F96"/>
          </a:solidFill>
          <a:ln w="9525">
            <a:solidFill>
              <a:srgbClr val="5C6066"/>
            </a:solidFill>
            <a:prstDash val="solid"/>
          </a:ln>
        </p:spPr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AD68DC51-167B-C2EF-949C-44F010C2532E}"/>
              </a:ext>
            </a:extLst>
          </p:cNvPr>
          <p:cNvSpPr/>
          <p:nvPr/>
        </p:nvSpPr>
        <p:spPr>
          <a:xfrm>
            <a:off x="3463070" y="4334256"/>
            <a:ext cx="64008" cy="182880"/>
          </a:xfrm>
          <a:prstGeom prst="rect">
            <a:avLst/>
          </a:prstGeom>
          <a:solidFill>
            <a:srgbClr val="5C6066"/>
          </a:solidFill>
          <a:ln/>
        </p:spPr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7237A138-338B-27A8-72C1-0CDB50FFEF1C}"/>
              </a:ext>
            </a:extLst>
          </p:cNvPr>
          <p:cNvSpPr/>
          <p:nvPr/>
        </p:nvSpPr>
        <p:spPr>
          <a:xfrm>
            <a:off x="3572798" y="4334256"/>
            <a:ext cx="64008" cy="182880"/>
          </a:xfrm>
          <a:prstGeom prst="rect">
            <a:avLst/>
          </a:prstGeom>
          <a:solidFill>
            <a:srgbClr val="5C6066"/>
          </a:solidFill>
          <a:ln/>
        </p:spPr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789DD0A2-D079-046A-F64A-D293C60A26AA}"/>
              </a:ext>
            </a:extLst>
          </p:cNvPr>
          <p:cNvSpPr/>
          <p:nvPr/>
        </p:nvSpPr>
        <p:spPr>
          <a:xfrm>
            <a:off x="3682526" y="4334256"/>
            <a:ext cx="64008" cy="182880"/>
          </a:xfrm>
          <a:prstGeom prst="rect">
            <a:avLst/>
          </a:prstGeom>
          <a:solidFill>
            <a:srgbClr val="5C6066"/>
          </a:solidFill>
          <a:ln/>
        </p:spPr>
      </p:sp>
      <p:sp>
        <p:nvSpPr>
          <p:cNvPr id="75" name="Shape 17">
            <a:extLst>
              <a:ext uri="{FF2B5EF4-FFF2-40B4-BE49-F238E27FC236}">
                <a16:creationId xmlns:a16="http://schemas.microsoft.com/office/drawing/2014/main" id="{2FA88301-D5D4-7304-BCC9-9269FC9914E5}"/>
              </a:ext>
            </a:extLst>
          </p:cNvPr>
          <p:cNvSpPr/>
          <p:nvPr/>
        </p:nvSpPr>
        <p:spPr>
          <a:xfrm>
            <a:off x="3792254" y="4334256"/>
            <a:ext cx="64008" cy="182880"/>
          </a:xfrm>
          <a:prstGeom prst="rect">
            <a:avLst/>
          </a:prstGeom>
          <a:solidFill>
            <a:srgbClr val="5C6066"/>
          </a:solidFill>
          <a:ln/>
        </p:spPr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72267D94-FFDD-0539-7337-9161B70AC1FC}"/>
              </a:ext>
            </a:extLst>
          </p:cNvPr>
          <p:cNvSpPr/>
          <p:nvPr/>
        </p:nvSpPr>
        <p:spPr>
          <a:xfrm>
            <a:off x="3869978" y="4187952"/>
            <a:ext cx="128016" cy="128016"/>
          </a:xfrm>
          <a:prstGeom prst="rect">
            <a:avLst/>
          </a:prstGeom>
          <a:solidFill>
            <a:srgbClr val="8A8F96"/>
          </a:solidFill>
          <a:ln w="9525">
            <a:solidFill>
              <a:srgbClr val="5C6066"/>
            </a:solidFill>
            <a:prstDash val="solid"/>
          </a:ln>
        </p:spPr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B5D0431F-195E-6E9E-408F-ED7BDE654BA9}"/>
              </a:ext>
            </a:extLst>
          </p:cNvPr>
          <p:cNvSpPr/>
          <p:nvPr/>
        </p:nvSpPr>
        <p:spPr>
          <a:xfrm>
            <a:off x="3577370" y="3995928"/>
            <a:ext cx="164592" cy="164592"/>
          </a:xfrm>
          <a:prstGeom prst="ellipse">
            <a:avLst/>
          </a:prstGeom>
          <a:solidFill>
            <a:srgbClr val="0066A1">
              <a:alpha val="45000"/>
            </a:srgbClr>
          </a:solidFill>
          <a:ln w="15875">
            <a:solidFill>
              <a:srgbClr val="0066A1"/>
            </a:solidFill>
            <a:prstDash val="dash"/>
          </a:ln>
        </p:spPr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9E1F0291-4E46-10C1-1936-EBC857AC8686}"/>
              </a:ext>
            </a:extLst>
          </p:cNvPr>
          <p:cNvSpPr/>
          <p:nvPr/>
        </p:nvSpPr>
        <p:spPr>
          <a:xfrm>
            <a:off x="4127715" y="4261104"/>
            <a:ext cx="413805" cy="0"/>
          </a:xfrm>
          <a:prstGeom prst="line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819DB75C-B184-513B-3433-D14DF515E526}"/>
              </a:ext>
            </a:extLst>
          </p:cNvPr>
          <p:cNvSpPr txBox="1"/>
          <p:nvPr/>
        </p:nvSpPr>
        <p:spPr>
          <a:xfrm>
            <a:off x="4541520" y="2395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dirty="0">
                <a:solidFill>
                  <a:srgbClr val="006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 &amp; Planning</a:t>
            </a:r>
            <a:endParaRPr lang="en-US" sz="120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5B94EAE0-69F2-8D84-3735-4245A44B5A4D}"/>
              </a:ext>
            </a:extLst>
          </p:cNvPr>
          <p:cNvSpPr txBox="1"/>
          <p:nvPr/>
        </p:nvSpPr>
        <p:spPr>
          <a:xfrm>
            <a:off x="4541520" y="27797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0" dirty="0">
                <a:solidFill>
                  <a:srgbClr val="666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(Raspberry Pi 4B · ROS 2)</a:t>
            </a:r>
            <a:endParaRPr lang="en-US" sz="830" dirty="0"/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398BF2C8-2564-74EF-F2A6-203145F9A433}"/>
              </a:ext>
            </a:extLst>
          </p:cNvPr>
          <p:cNvSpPr/>
          <p:nvPr/>
        </p:nvSpPr>
        <p:spPr>
          <a:xfrm>
            <a:off x="4541520" y="3017520"/>
            <a:ext cx="2240280" cy="2468880"/>
          </a:xfrm>
          <a:prstGeom prst="rect">
            <a:avLst/>
          </a:prstGeom>
          <a:ln w="12700">
            <a:solidFill>
              <a:srgbClr val="9AA0A6"/>
            </a:solidFill>
            <a:prstDash val="dash"/>
          </a:ln>
        </p:spPr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7F3B42B8-C28B-1DB1-348B-6C6DB35BDC3E}"/>
              </a:ext>
            </a:extLst>
          </p:cNvPr>
          <p:cNvGrpSpPr/>
          <p:nvPr/>
        </p:nvGrpSpPr>
        <p:grpSpPr>
          <a:xfrm>
            <a:off x="4642104" y="3090672"/>
            <a:ext cx="2002536" cy="566928"/>
            <a:chOff x="3136392" y="3090672"/>
            <a:chExt cx="2002536" cy="566928"/>
          </a:xfrm>
          <a:solidFill>
            <a:srgbClr val="FBF8EF"/>
          </a:solidFill>
        </p:grpSpPr>
        <p:sp>
          <p:nvSpPr>
            <p:cNvPr id="83" name="Shape 24">
              <a:extLst>
                <a:ext uri="{FF2B5EF4-FFF2-40B4-BE49-F238E27FC236}">
                  <a16:creationId xmlns:a16="http://schemas.microsoft.com/office/drawing/2014/main" id="{48E96E14-21DB-E2D4-BABF-265883F7FE66}"/>
                </a:ext>
              </a:extLst>
            </p:cNvPr>
            <p:cNvSpPr/>
            <p:nvPr/>
          </p:nvSpPr>
          <p:spPr>
            <a:xfrm>
              <a:off x="3136392" y="3090672"/>
              <a:ext cx="2002536" cy="566928"/>
            </a:xfrm>
            <a:prstGeom prst="roundRect">
              <a:avLst>
                <a:gd name="adj" fmla="val 4839"/>
              </a:avLst>
            </a:prstGeom>
            <a:grpFill/>
            <a:ln w="11430">
              <a:solidFill>
                <a:srgbClr val="3C4045"/>
              </a:solidFill>
              <a:prstDash val="solid"/>
            </a:ln>
          </p:spPr>
        </p:sp>
        <p:sp>
          <p:nvSpPr>
            <p:cNvPr id="84" name="Text 25">
              <a:extLst>
                <a:ext uri="{FF2B5EF4-FFF2-40B4-BE49-F238E27FC236}">
                  <a16:creationId xmlns:a16="http://schemas.microsoft.com/office/drawing/2014/main" id="{E0A7D80C-0F2A-16DD-F959-8827C109DDFC}"/>
                </a:ext>
              </a:extLst>
            </p:cNvPr>
            <p:cNvSpPr txBox="1"/>
            <p:nvPr/>
          </p:nvSpPr>
          <p:spPr>
            <a:xfrm>
              <a:off x="3246120" y="3145536"/>
              <a:ext cx="178308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72B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LiDAR Sensing</a:t>
              </a:r>
              <a:endParaRPr lang="en-US" sz="1100" dirty="0"/>
            </a:p>
          </p:txBody>
        </p:sp>
        <p:sp>
          <p:nvSpPr>
            <p:cNvPr id="85" name="Text 26">
              <a:extLst>
                <a:ext uri="{FF2B5EF4-FFF2-40B4-BE49-F238E27FC236}">
                  <a16:creationId xmlns:a16="http://schemas.microsoft.com/office/drawing/2014/main" id="{E253288B-DA9C-BD69-555A-6B8591191F01}"/>
                </a:ext>
              </a:extLst>
            </p:cNvPr>
            <p:cNvSpPr txBox="1"/>
            <p:nvPr/>
          </p:nvSpPr>
          <p:spPr>
            <a:xfrm>
              <a:off x="3246120" y="3419856"/>
              <a:ext cx="1783080" cy="20116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860" dirty="0">
                  <a:solidFill>
                    <a:srgbClr val="666C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distance to obstacles</a:t>
              </a:r>
              <a:endParaRPr lang="en-US" sz="860" dirty="0"/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A7A0B8FB-32F8-0A8F-33EA-1334CCD355ED}"/>
              </a:ext>
            </a:extLst>
          </p:cNvPr>
          <p:cNvGrpSpPr/>
          <p:nvPr/>
        </p:nvGrpSpPr>
        <p:grpSpPr>
          <a:xfrm>
            <a:off x="4642104" y="3968496"/>
            <a:ext cx="2002536" cy="566928"/>
            <a:chOff x="3136392" y="3785616"/>
            <a:chExt cx="2002536" cy="566928"/>
          </a:xfrm>
        </p:grpSpPr>
        <p:sp>
          <p:nvSpPr>
            <p:cNvPr id="87" name="Shape 27">
              <a:extLst>
                <a:ext uri="{FF2B5EF4-FFF2-40B4-BE49-F238E27FC236}">
                  <a16:creationId xmlns:a16="http://schemas.microsoft.com/office/drawing/2014/main" id="{853A0FAB-C781-8A0A-66CD-8FD0995440F8}"/>
                </a:ext>
              </a:extLst>
            </p:cNvPr>
            <p:cNvSpPr/>
            <p:nvPr/>
          </p:nvSpPr>
          <p:spPr>
            <a:xfrm>
              <a:off x="3136392" y="3785616"/>
              <a:ext cx="2002536" cy="566928"/>
            </a:xfrm>
            <a:prstGeom prst="roundRect">
              <a:avLst>
                <a:gd name="adj" fmla="val 4839"/>
              </a:avLst>
            </a:prstGeom>
            <a:solidFill>
              <a:srgbClr val="FBF8EF"/>
            </a:solidFill>
            <a:ln w="11430">
              <a:solidFill>
                <a:srgbClr val="3C4045"/>
              </a:solidFill>
              <a:prstDash val="solid"/>
            </a:ln>
          </p:spPr>
        </p:sp>
        <p:sp>
          <p:nvSpPr>
            <p:cNvPr id="88" name="Text 28">
              <a:extLst>
                <a:ext uri="{FF2B5EF4-FFF2-40B4-BE49-F238E27FC236}">
                  <a16:creationId xmlns:a16="http://schemas.microsoft.com/office/drawing/2014/main" id="{2DE2B510-FE1B-08D6-E056-7A8C9BB06F47}"/>
                </a:ext>
              </a:extLst>
            </p:cNvPr>
            <p:cNvSpPr txBox="1"/>
            <p:nvPr/>
          </p:nvSpPr>
          <p:spPr>
            <a:xfrm>
              <a:off x="3246120" y="3840480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72B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SLAM</a:t>
              </a:r>
              <a:endParaRPr lang="en-US" sz="1100" dirty="0"/>
            </a:p>
          </p:txBody>
        </p:sp>
        <p:sp>
          <p:nvSpPr>
            <p:cNvPr id="89" name="Text 29">
              <a:extLst>
                <a:ext uri="{FF2B5EF4-FFF2-40B4-BE49-F238E27FC236}">
                  <a16:creationId xmlns:a16="http://schemas.microsoft.com/office/drawing/2014/main" id="{9B78517B-B93D-5C0B-2A36-E098D3A7D26E}"/>
                </a:ext>
              </a:extLst>
            </p:cNvPr>
            <p:cNvSpPr txBox="1"/>
            <p:nvPr/>
          </p:nvSpPr>
          <p:spPr>
            <a:xfrm>
              <a:off x="3246120" y="411480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0" dirty="0">
                  <a:solidFill>
                    <a:srgbClr val="666C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map + robot pose</a:t>
              </a:r>
              <a:endParaRPr lang="en-US" sz="860" dirty="0"/>
            </a:p>
          </p:txBody>
        </p: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72820CCC-19F8-2666-7950-F20CFB67BB01}"/>
              </a:ext>
            </a:extLst>
          </p:cNvPr>
          <p:cNvGrpSpPr/>
          <p:nvPr/>
        </p:nvGrpSpPr>
        <p:grpSpPr>
          <a:xfrm>
            <a:off x="4642104" y="4846320"/>
            <a:ext cx="2002536" cy="566928"/>
            <a:chOff x="3136392" y="4480560"/>
            <a:chExt cx="2002536" cy="566928"/>
          </a:xfrm>
          <a:solidFill>
            <a:srgbClr val="FBF8EF"/>
          </a:solidFill>
        </p:grpSpPr>
        <p:sp>
          <p:nvSpPr>
            <p:cNvPr id="91" name="Shape 30">
              <a:extLst>
                <a:ext uri="{FF2B5EF4-FFF2-40B4-BE49-F238E27FC236}">
                  <a16:creationId xmlns:a16="http://schemas.microsoft.com/office/drawing/2014/main" id="{544179A8-FDFA-70FC-B087-2CBB0430ABB7}"/>
                </a:ext>
              </a:extLst>
            </p:cNvPr>
            <p:cNvSpPr/>
            <p:nvPr/>
          </p:nvSpPr>
          <p:spPr>
            <a:xfrm>
              <a:off x="3136392" y="4480560"/>
              <a:ext cx="2002536" cy="566928"/>
            </a:xfrm>
            <a:prstGeom prst="roundRect">
              <a:avLst>
                <a:gd name="adj" fmla="val 4839"/>
              </a:avLst>
            </a:prstGeom>
            <a:grpFill/>
            <a:ln w="11430">
              <a:solidFill>
                <a:srgbClr val="3C4045"/>
              </a:solidFill>
              <a:prstDash val="solid"/>
            </a:ln>
          </p:spPr>
        </p:sp>
        <p:sp>
          <p:nvSpPr>
            <p:cNvPr id="92" name="Text 31">
              <a:extLst>
                <a:ext uri="{FF2B5EF4-FFF2-40B4-BE49-F238E27FC236}">
                  <a16:creationId xmlns:a16="http://schemas.microsoft.com/office/drawing/2014/main" id="{BA36EAE0-1F16-A52D-1548-853C6EF74352}"/>
                </a:ext>
              </a:extLst>
            </p:cNvPr>
            <p:cNvSpPr txBox="1"/>
            <p:nvPr/>
          </p:nvSpPr>
          <p:spPr>
            <a:xfrm>
              <a:off x="3246120" y="4535424"/>
              <a:ext cx="178308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72B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Nav2 Path Planning</a:t>
              </a:r>
              <a:endParaRPr lang="en-US" sz="1100" dirty="0"/>
            </a:p>
          </p:txBody>
        </p:sp>
        <p:sp>
          <p:nvSpPr>
            <p:cNvPr id="93" name="Text 32">
              <a:extLst>
                <a:ext uri="{FF2B5EF4-FFF2-40B4-BE49-F238E27FC236}">
                  <a16:creationId xmlns:a16="http://schemas.microsoft.com/office/drawing/2014/main" id="{57CC370D-C2FD-46B3-9A83-66AD81197331}"/>
                </a:ext>
              </a:extLst>
            </p:cNvPr>
            <p:cNvSpPr txBox="1"/>
            <p:nvPr/>
          </p:nvSpPr>
          <p:spPr>
            <a:xfrm>
              <a:off x="3246120" y="4809744"/>
              <a:ext cx="1783080" cy="20116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860" dirty="0">
                  <a:solidFill>
                    <a:srgbClr val="666C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route to goal</a:t>
              </a:r>
              <a:endParaRPr lang="en-US" sz="860" dirty="0"/>
            </a:p>
          </p:txBody>
        </p:sp>
      </p:grpSp>
      <p:sp>
        <p:nvSpPr>
          <p:cNvPr id="94" name="Text 33">
            <a:extLst>
              <a:ext uri="{FF2B5EF4-FFF2-40B4-BE49-F238E27FC236}">
                <a16:creationId xmlns:a16="http://schemas.microsoft.com/office/drawing/2014/main" id="{578117B3-65D3-9822-607F-88AA9B06FE4D}"/>
              </a:ext>
            </a:extLst>
          </p:cNvPr>
          <p:cNvSpPr txBox="1"/>
          <p:nvPr/>
        </p:nvSpPr>
        <p:spPr>
          <a:xfrm>
            <a:off x="678180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dirty="0">
                <a:solidFill>
                  <a:srgbClr val="006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2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006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</a:t>
            </a:r>
            <a:endParaRPr lang="en-US" sz="1200" dirty="0"/>
          </a:p>
        </p:txBody>
      </p:sp>
      <p:sp>
        <p:nvSpPr>
          <p:cNvPr id="95" name="Text 34">
            <a:extLst>
              <a:ext uri="{FF2B5EF4-FFF2-40B4-BE49-F238E27FC236}">
                <a16:creationId xmlns:a16="http://schemas.microsoft.com/office/drawing/2014/main" id="{19AC0ADE-53A5-38DB-30C6-730D929C45C6}"/>
              </a:ext>
            </a:extLst>
          </p:cNvPr>
          <p:cNvSpPr txBox="1"/>
          <p:nvPr/>
        </p:nvSpPr>
        <p:spPr>
          <a:xfrm>
            <a:off x="6781800" y="27797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10" dirty="0">
                <a:solidFill>
                  <a:srgbClr val="666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(Communication)</a:t>
            </a:r>
            <a:endParaRPr lang="en-US" sz="810" dirty="0"/>
          </a:p>
        </p:txBody>
      </p:sp>
      <p:sp>
        <p:nvSpPr>
          <p:cNvPr id="96" name="Shape 35">
            <a:extLst>
              <a:ext uri="{FF2B5EF4-FFF2-40B4-BE49-F238E27FC236}">
                <a16:creationId xmlns:a16="http://schemas.microsoft.com/office/drawing/2014/main" id="{A6954E69-2919-D6DF-A8B4-C0B6C17D9477}"/>
              </a:ext>
            </a:extLst>
          </p:cNvPr>
          <p:cNvSpPr/>
          <p:nvPr/>
        </p:nvSpPr>
        <p:spPr>
          <a:xfrm>
            <a:off x="6920870" y="4261104"/>
            <a:ext cx="757042" cy="0"/>
          </a:xfrm>
          <a:prstGeom prst="line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sp>
      <p:sp>
        <p:nvSpPr>
          <p:cNvPr id="97" name="Text 39">
            <a:extLst>
              <a:ext uri="{FF2B5EF4-FFF2-40B4-BE49-F238E27FC236}">
                <a16:creationId xmlns:a16="http://schemas.microsoft.com/office/drawing/2014/main" id="{7B3FDB91-B00B-6B7C-A4B4-6E1D3860CB87}"/>
              </a:ext>
            </a:extLst>
          </p:cNvPr>
          <p:cNvSpPr txBox="1"/>
          <p:nvPr/>
        </p:nvSpPr>
        <p:spPr>
          <a:xfrm>
            <a:off x="7879080" y="2395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dirty="0">
                <a:solidFill>
                  <a:srgbClr val="006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&amp; Control</a:t>
            </a:r>
            <a:endParaRPr lang="en-US" sz="1200" dirty="0"/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B1AAB387-96CE-2F8F-E84C-631249DED720}"/>
              </a:ext>
            </a:extLst>
          </p:cNvPr>
          <p:cNvSpPr txBox="1"/>
          <p:nvPr/>
        </p:nvSpPr>
        <p:spPr>
          <a:xfrm>
            <a:off x="7879080" y="27797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0" dirty="0">
                <a:solidFill>
                  <a:srgbClr val="666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(Raspberry Pi 4B · ROS 2)</a:t>
            </a:r>
            <a:endParaRPr lang="en-US" sz="830" dirty="0"/>
          </a:p>
        </p:txBody>
      </p:sp>
      <p:sp>
        <p:nvSpPr>
          <p:cNvPr id="99" name="Shape 41">
            <a:extLst>
              <a:ext uri="{FF2B5EF4-FFF2-40B4-BE49-F238E27FC236}">
                <a16:creationId xmlns:a16="http://schemas.microsoft.com/office/drawing/2014/main" id="{F064B56C-309A-758F-95CE-1825F8BC21F7}"/>
              </a:ext>
            </a:extLst>
          </p:cNvPr>
          <p:cNvSpPr/>
          <p:nvPr/>
        </p:nvSpPr>
        <p:spPr>
          <a:xfrm>
            <a:off x="7879080" y="3017520"/>
            <a:ext cx="2240280" cy="2468880"/>
          </a:xfrm>
          <a:prstGeom prst="rect">
            <a:avLst/>
          </a:prstGeom>
          <a:ln w="12700">
            <a:solidFill>
              <a:srgbClr val="9AA0A6"/>
            </a:solidFill>
            <a:prstDash val="dash"/>
          </a:ln>
        </p:spPr>
      </p: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58E280D3-03C0-273A-6C66-E89F32A86740}"/>
              </a:ext>
            </a:extLst>
          </p:cNvPr>
          <p:cNvGrpSpPr/>
          <p:nvPr/>
        </p:nvGrpSpPr>
        <p:grpSpPr>
          <a:xfrm>
            <a:off x="7970520" y="3374136"/>
            <a:ext cx="2075688" cy="576072"/>
            <a:chOff x="6473952" y="3090672"/>
            <a:chExt cx="2075688" cy="576072"/>
          </a:xfrm>
        </p:grpSpPr>
        <p:sp>
          <p:nvSpPr>
            <p:cNvPr id="101" name="Shape 42">
              <a:extLst>
                <a:ext uri="{FF2B5EF4-FFF2-40B4-BE49-F238E27FC236}">
                  <a16:creationId xmlns:a16="http://schemas.microsoft.com/office/drawing/2014/main" id="{A9D5293A-2390-564A-10C0-4E1ADBD94C61}"/>
                </a:ext>
              </a:extLst>
            </p:cNvPr>
            <p:cNvSpPr/>
            <p:nvPr/>
          </p:nvSpPr>
          <p:spPr>
            <a:xfrm>
              <a:off x="6473952" y="3090672"/>
              <a:ext cx="2002536" cy="566928"/>
            </a:xfrm>
            <a:prstGeom prst="roundRect">
              <a:avLst>
                <a:gd name="adj" fmla="val 2222"/>
              </a:avLst>
            </a:prstGeom>
            <a:solidFill>
              <a:srgbClr val="FBF8EF"/>
            </a:solidFill>
            <a:ln w="12700">
              <a:solidFill>
                <a:srgbClr val="3C4045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02" name="Text 43">
              <a:extLst>
                <a:ext uri="{FF2B5EF4-FFF2-40B4-BE49-F238E27FC236}">
                  <a16:creationId xmlns:a16="http://schemas.microsoft.com/office/drawing/2014/main" id="{E068ACE6-F027-863F-6BE1-7B359DC77D16}"/>
                </a:ext>
              </a:extLst>
            </p:cNvPr>
            <p:cNvSpPr txBox="1"/>
            <p:nvPr/>
          </p:nvSpPr>
          <p:spPr>
            <a:xfrm>
              <a:off x="6574536" y="3179572"/>
              <a:ext cx="1975104" cy="20116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altLang="zh-TW" sz="1100" b="1" dirty="0">
                  <a:solidFill>
                    <a:srgbClr val="272B30"/>
                  </a:solidFill>
                  <a:latin typeface="Georgia" pitchFamily="34" charset="0"/>
                </a:rPr>
                <a:t>Reinforcement Learning</a:t>
              </a:r>
              <a:endParaRPr lang="en-US" sz="1100" b="1" dirty="0">
                <a:solidFill>
                  <a:srgbClr val="272B30"/>
                </a:solidFill>
                <a:latin typeface="Georgia" pitchFamily="34" charset="0"/>
              </a:endParaRPr>
            </a:p>
          </p:txBody>
        </p:sp>
        <p:sp>
          <p:nvSpPr>
            <p:cNvPr id="103" name="Text 44">
              <a:extLst>
                <a:ext uri="{FF2B5EF4-FFF2-40B4-BE49-F238E27FC236}">
                  <a16:creationId xmlns:a16="http://schemas.microsoft.com/office/drawing/2014/main" id="{699DCCCE-5EC8-362E-4EE1-4573A0A46051}"/>
                </a:ext>
              </a:extLst>
            </p:cNvPr>
            <p:cNvSpPr txBox="1"/>
            <p:nvPr/>
          </p:nvSpPr>
          <p:spPr>
            <a:xfrm>
              <a:off x="6583680" y="3483864"/>
              <a:ext cx="1764792" cy="18288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altLang="zh-TW" sz="880" dirty="0">
                  <a:solidFill>
                    <a:srgbClr val="666C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Obstacle Avoidance</a:t>
              </a:r>
            </a:p>
            <a:p>
              <a:endParaRPr lang="en-US" sz="950" dirty="0"/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5489B308-9BF7-4946-98C8-941DC10EEA20}"/>
              </a:ext>
            </a:extLst>
          </p:cNvPr>
          <p:cNvGrpSpPr/>
          <p:nvPr/>
        </p:nvGrpSpPr>
        <p:grpSpPr>
          <a:xfrm>
            <a:off x="7970520" y="4617720"/>
            <a:ext cx="2002536" cy="566928"/>
            <a:chOff x="6473952" y="4846320"/>
            <a:chExt cx="2002536" cy="566928"/>
          </a:xfrm>
          <a:solidFill>
            <a:srgbClr val="FBF8EF"/>
          </a:solidFill>
        </p:grpSpPr>
        <p:sp>
          <p:nvSpPr>
            <p:cNvPr id="105" name="Shape 47">
              <a:extLst>
                <a:ext uri="{FF2B5EF4-FFF2-40B4-BE49-F238E27FC236}">
                  <a16:creationId xmlns:a16="http://schemas.microsoft.com/office/drawing/2014/main" id="{1B31EE07-7FCF-6D10-6619-117C1B0D37F8}"/>
                </a:ext>
              </a:extLst>
            </p:cNvPr>
            <p:cNvSpPr/>
            <p:nvPr/>
          </p:nvSpPr>
          <p:spPr>
            <a:xfrm>
              <a:off x="6473952" y="4846320"/>
              <a:ext cx="2002536" cy="566928"/>
            </a:xfrm>
            <a:prstGeom prst="roundRect">
              <a:avLst>
                <a:gd name="adj" fmla="val 4839"/>
              </a:avLst>
            </a:prstGeom>
            <a:grpFill/>
            <a:ln w="11430">
              <a:solidFill>
                <a:srgbClr val="3C4045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" name="Text 48">
              <a:extLst>
                <a:ext uri="{FF2B5EF4-FFF2-40B4-BE49-F238E27FC236}">
                  <a16:creationId xmlns:a16="http://schemas.microsoft.com/office/drawing/2014/main" id="{6B8A6FA3-A1B8-59C1-1A14-2C299B276F49}"/>
                </a:ext>
              </a:extLst>
            </p:cNvPr>
            <p:cNvSpPr txBox="1"/>
            <p:nvPr/>
          </p:nvSpPr>
          <p:spPr>
            <a:xfrm>
              <a:off x="6583680" y="4919472"/>
              <a:ext cx="178308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72B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Motion Control</a:t>
              </a:r>
              <a:endParaRPr lang="en-US" sz="1100" dirty="0"/>
            </a:p>
          </p:txBody>
        </p:sp>
        <p:sp>
          <p:nvSpPr>
            <p:cNvPr id="107" name="Text 49">
              <a:extLst>
                <a:ext uri="{FF2B5EF4-FFF2-40B4-BE49-F238E27FC236}">
                  <a16:creationId xmlns:a16="http://schemas.microsoft.com/office/drawing/2014/main" id="{6B3766B6-D168-BE82-B803-3AF4A391F25A}"/>
                </a:ext>
              </a:extLst>
            </p:cNvPr>
            <p:cNvSpPr txBox="1"/>
            <p:nvPr/>
          </p:nvSpPr>
          <p:spPr>
            <a:xfrm>
              <a:off x="6583680" y="5175504"/>
              <a:ext cx="1783080" cy="20116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880" dirty="0">
                  <a:solidFill>
                    <a:srgbClr val="666C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walk commands</a:t>
              </a:r>
              <a:endParaRPr lang="en-US" sz="880" dirty="0"/>
            </a:p>
          </p:txBody>
        </p:sp>
      </p:grp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4911B2C1-6258-5A15-BE66-CBBFF5E0AF71}"/>
              </a:ext>
            </a:extLst>
          </p:cNvPr>
          <p:cNvCxnSpPr>
            <a:cxnSpLocks/>
          </p:cNvCxnSpPr>
          <p:nvPr/>
        </p:nvCxnSpPr>
        <p:spPr>
          <a:xfrm>
            <a:off x="5569019" y="3657601"/>
            <a:ext cx="0" cy="300609"/>
          </a:xfrm>
          <a:prstGeom prst="straightConnector1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6E86486D-A9D4-0543-FEB9-A592CD152229}"/>
              </a:ext>
            </a:extLst>
          </p:cNvPr>
          <p:cNvCxnSpPr>
            <a:cxnSpLocks/>
          </p:cNvCxnSpPr>
          <p:nvPr/>
        </p:nvCxnSpPr>
        <p:spPr>
          <a:xfrm>
            <a:off x="5569019" y="4538665"/>
            <a:ext cx="0" cy="300609"/>
          </a:xfrm>
          <a:prstGeom prst="straightConnector1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cxn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05FE086E-25D6-6BA8-5226-DDC8891C8A76}"/>
              </a:ext>
            </a:extLst>
          </p:cNvPr>
          <p:cNvCxnSpPr>
            <a:cxnSpLocks/>
          </p:cNvCxnSpPr>
          <p:nvPr/>
        </p:nvCxnSpPr>
        <p:spPr>
          <a:xfrm>
            <a:off x="8899610" y="3958209"/>
            <a:ext cx="0" cy="661232"/>
          </a:xfrm>
          <a:prstGeom prst="straightConnector1">
            <a:avLst/>
          </a:prstGeom>
          <a:noFill/>
          <a:ln w="13970">
            <a:solidFill>
              <a:srgbClr val="0066A1"/>
            </a:solidFill>
            <a:prstDash val="solid"/>
            <a:tailEnd type="triangle"/>
          </a:ln>
        </p:spPr>
      </p:cxnSp>
      <p:sp>
        <p:nvSpPr>
          <p:cNvPr id="111" name="Text 11">
            <a:extLst>
              <a:ext uri="{FF2B5EF4-FFF2-40B4-BE49-F238E27FC236}">
                <a16:creationId xmlns:a16="http://schemas.microsoft.com/office/drawing/2014/main" id="{1B5524EB-B2DA-E077-E621-8E6D1162D195}"/>
              </a:ext>
            </a:extLst>
          </p:cNvPr>
          <p:cNvSpPr txBox="1"/>
          <p:nvPr/>
        </p:nvSpPr>
        <p:spPr>
          <a:xfrm>
            <a:off x="2882426" y="4736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30" dirty="0">
                <a:solidFill>
                  <a:srgbClr val="006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</a:p>
        </p:txBody>
      </p:sp>
      <p:cxnSp>
        <p:nvCxnSpPr>
          <p:cNvPr id="112" name="接點: 肘形 111">
            <a:extLst>
              <a:ext uri="{FF2B5EF4-FFF2-40B4-BE49-F238E27FC236}">
                <a16:creationId xmlns:a16="http://schemas.microsoft.com/office/drawing/2014/main" id="{5DBFD772-3A79-D051-7130-6A19DA386A00}"/>
              </a:ext>
            </a:extLst>
          </p:cNvPr>
          <p:cNvCxnSpPr>
            <a:cxnSpLocks/>
            <a:stCxn id="99" idx="2"/>
          </p:cNvCxnSpPr>
          <p:nvPr/>
        </p:nvCxnSpPr>
        <p:spPr>
          <a:xfrm rot="5400000">
            <a:off x="6001783" y="3167143"/>
            <a:ext cx="678180" cy="5316694"/>
          </a:xfrm>
          <a:prstGeom prst="bentConnector2">
            <a:avLst/>
          </a:prstGeom>
          <a:noFill/>
          <a:ln w="13970">
            <a:solidFill>
              <a:srgbClr val="0066A1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65265825-6C25-9AF9-6153-6738B9FDEBCC}"/>
              </a:ext>
            </a:extLst>
          </p:cNvPr>
          <p:cNvCxnSpPr>
            <a:cxnSpLocks/>
          </p:cNvCxnSpPr>
          <p:nvPr/>
        </p:nvCxnSpPr>
        <p:spPr>
          <a:xfrm flipV="1">
            <a:off x="3682526" y="4617720"/>
            <a:ext cx="0" cy="1546860"/>
          </a:xfrm>
          <a:prstGeom prst="line">
            <a:avLst/>
          </a:prstGeom>
          <a:noFill/>
          <a:ln w="13970">
            <a:solidFill>
              <a:srgbClr val="0066A1"/>
            </a:solidFill>
            <a:prstDash val="dash"/>
            <a:tailEnd type="triangle"/>
          </a:ln>
        </p:spPr>
      </p:cxnSp>
      <p:sp>
        <p:nvSpPr>
          <p:cNvPr id="114" name="Text 6">
            <a:extLst>
              <a:ext uri="{FF2B5EF4-FFF2-40B4-BE49-F238E27FC236}">
                <a16:creationId xmlns:a16="http://schemas.microsoft.com/office/drawing/2014/main" id="{691B7DEF-6CF3-6575-4A8E-B02961C8C2CF}"/>
              </a:ext>
            </a:extLst>
          </p:cNvPr>
          <p:cNvSpPr txBox="1"/>
          <p:nvPr/>
        </p:nvSpPr>
        <p:spPr>
          <a:xfrm>
            <a:off x="548640" y="239572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r>
              <a:rPr lang="en-US" altLang="zh-TW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</a:t>
            </a:r>
            <a:r>
              <a:rPr lang="zh-TW" altLang="zh-TW" sz="155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Software Pipeline</a:t>
            </a:r>
            <a:endParaRPr lang="en-US" sz="155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810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329</Words>
  <Application>Microsoft Office PowerPoint</Application>
  <PresentationFormat>寬螢幕</PresentationFormat>
  <Paragraphs>71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Georgia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雅倪 許</dc:creator>
  <cp:lastModifiedBy>雅倪 許</cp:lastModifiedBy>
  <cp:revision>6</cp:revision>
  <dcterms:created xsi:type="dcterms:W3CDTF">2026-09-22T07:17:53Z</dcterms:created>
  <dcterms:modified xsi:type="dcterms:W3CDTF">2026-09-22T08:40:42Z</dcterms:modified>
</cp:coreProperties>
</file>